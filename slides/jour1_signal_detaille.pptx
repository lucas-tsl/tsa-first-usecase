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024360" cy="548640"/>
          </a:xfrm>
          <a:prstGeom prst="rect">
            <a:avLst/>
          </a:prstGeom>
          <a:solidFill>
            <a:srgbClr val="0D2040">
              <a:alpha val="3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43000"/>
            <a:ext cx="12024360" cy="548640"/>
          </a:xfrm>
          <a:prstGeom prst="rect">
            <a:avLst/>
          </a:prstGeom>
          <a:solidFill>
            <a:srgbClr val="122952">
              <a:alpha val="3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2286000"/>
            <a:ext cx="12024360" cy="548640"/>
          </a:xfrm>
          <a:prstGeom prst="rect">
            <a:avLst/>
          </a:prstGeom>
          <a:solidFill>
            <a:srgbClr val="0D2040">
              <a:alpha val="3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3429000"/>
            <a:ext cx="12024360" cy="548640"/>
          </a:xfrm>
          <a:prstGeom prst="rect">
            <a:avLst/>
          </a:prstGeom>
          <a:solidFill>
            <a:srgbClr val="122952">
              <a:alpha val="3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572000"/>
            <a:ext cx="12024360" cy="548640"/>
          </a:xfrm>
          <a:prstGeom prst="rect">
            <a:avLst/>
          </a:prstGeom>
          <a:solidFill>
            <a:srgbClr val="0D2040">
              <a:alpha val="3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5715000"/>
            <a:ext cx="12024360" cy="548640"/>
          </a:xfrm>
          <a:prstGeom prst="rect">
            <a:avLst/>
          </a:prstGeom>
          <a:solidFill>
            <a:srgbClr val="122952">
              <a:alpha val="30000"/>
            </a:srgbClr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45720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651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1200" kern="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5600" dirty="0"/>
          </a:p>
        </p:txBody>
      </p:sp>
      <p:sp>
        <p:nvSpPr>
          <p:cNvPr id="12" name="Shape 9"/>
          <p:cNvSpPr/>
          <p:nvPr/>
        </p:nvSpPr>
        <p:spPr>
          <a:xfrm>
            <a:off x="1371600" y="3611880"/>
            <a:ext cx="94457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7033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Traitement du Signal Audio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57200" y="4297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Analyse Fréquentielle avec Librosa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371600" y="4983480"/>
            <a:ext cx="4023360" cy="914400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371600" y="4983480"/>
            <a:ext cx="40233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81328" y="507492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Signal Audio &amp; Librosa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81328" y="550468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9h00 – 12h30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66560" y="4983480"/>
            <a:ext cx="4023360" cy="914400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66560" y="4983480"/>
            <a:ext cx="40233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76288" y="507492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 FFT &amp; Spectrogrammes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76288" y="550468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13h30 – 17h00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&amp; Plan du Jour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de cette journée, vous serez capables de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6583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125272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 les propriétés fondamentales d'un signal audio numérique (amplitude, fréquence, durée)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1828800"/>
            <a:ext cx="6583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184708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Charger, visualiser et analyser un signal avec Librosa &amp; Matplotlib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2423160"/>
            <a:ext cx="6583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6888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552" y="244144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et interpréter la transformée de Fourier (FFT) d'un signal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365760" y="3017520"/>
            <a:ext cx="6583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7552" y="303580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et lire un spectrogramme (STFT et Mel)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65760" y="3611880"/>
            <a:ext cx="6583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5760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87552" y="363016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Relier les grandeurs physiques acoustiques aux représentations numériques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7315200" y="1005840"/>
            <a:ext cx="4572000" cy="5120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315200" y="1005840"/>
            <a:ext cx="45720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31520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DU JOUR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7315200" y="1508760"/>
            <a:ext cx="4572000" cy="365760"/>
          </a:xfrm>
          <a:prstGeom prst="rect">
            <a:avLst/>
          </a:prstGeom>
          <a:solidFill>
            <a:srgbClr val="0D204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406640" y="15270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09h00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8229600" y="15270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&amp; positionnement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315200" y="1883664"/>
            <a:ext cx="4572000" cy="365760"/>
          </a:xfrm>
          <a:prstGeom prst="rect">
            <a:avLst/>
          </a:prstGeom>
          <a:solidFill>
            <a:srgbClr val="12295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406640" y="190195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09h15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229600" y="19019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S1.1 – Qu'est-ce qu'un signal ?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315200" y="2258568"/>
            <a:ext cx="4572000" cy="365760"/>
          </a:xfrm>
          <a:prstGeom prst="rect">
            <a:avLst/>
          </a:prstGeom>
          <a:solidFill>
            <a:srgbClr val="0D204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406640" y="22768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09h45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229600" y="22768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S1.2 – Librosa : charger &amp; visualiser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315200" y="2633472"/>
            <a:ext cx="4572000" cy="365760"/>
          </a:xfrm>
          <a:prstGeom prst="rect">
            <a:avLst/>
          </a:prstGeom>
          <a:solidFill>
            <a:srgbClr val="12295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406640" y="26517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10h30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8229600" y="26517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S1.3 – Propriétés numériques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7315200" y="3008376"/>
            <a:ext cx="4572000" cy="365760"/>
          </a:xfrm>
          <a:prstGeom prst="rect">
            <a:avLst/>
          </a:prstGeom>
          <a:solidFill>
            <a:srgbClr val="0D204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406640" y="30266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11h00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8229600" y="30266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TP1 – Analyse d'un signal vocal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7315200" y="3383280"/>
            <a:ext cx="4572000" cy="365760"/>
          </a:xfrm>
          <a:prstGeom prst="rect">
            <a:avLst/>
          </a:prstGeom>
          <a:solidFill>
            <a:srgbClr val="12295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7406640" y="34015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12h00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8229600" y="34015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 Exercice noté S1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7315200" y="3758184"/>
            <a:ext cx="4572000" cy="365760"/>
          </a:xfrm>
          <a:prstGeom prst="rect">
            <a:avLst/>
          </a:prstGeom>
          <a:solidFill>
            <a:srgbClr val="0D204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406640" y="37764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12h30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8229600" y="37764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déjeuner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7315200" y="4133088"/>
            <a:ext cx="4572000" cy="365760"/>
          </a:xfrm>
          <a:prstGeom prst="rect">
            <a:avLst/>
          </a:prstGeom>
          <a:solidFill>
            <a:srgbClr val="12295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406640" y="41513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13h30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8229600" y="41513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S2.1 – La Transformée de Fourier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7315200" y="4507992"/>
            <a:ext cx="4572000" cy="365760"/>
          </a:xfrm>
          <a:prstGeom prst="rect">
            <a:avLst/>
          </a:prstGeom>
          <a:solidFill>
            <a:srgbClr val="0D204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406640" y="45262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14h30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8229600" y="45262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S2.2 – Spectrogrammes STFT &amp; Mel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7315200" y="4882896"/>
            <a:ext cx="4572000" cy="365760"/>
          </a:xfrm>
          <a:prstGeom prst="rect">
            <a:avLst/>
          </a:prstGeom>
          <a:solidFill>
            <a:srgbClr val="12295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7406640" y="490118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15h30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8229600" y="490118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TP2 – FFT &amp; Spectro Mel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7315200" y="5257800"/>
            <a:ext cx="4572000" cy="365760"/>
          </a:xfrm>
          <a:prstGeom prst="rect">
            <a:avLst/>
          </a:prstGeom>
          <a:solidFill>
            <a:srgbClr val="0D204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7406640" y="527608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16h15</a:t>
            </a:r>
            <a:endParaRPr lang="en-US" sz="900" dirty="0"/>
          </a:p>
        </p:txBody>
      </p:sp>
      <p:sp>
        <p:nvSpPr>
          <p:cNvPr id="58" name="Text 51"/>
          <p:cNvSpPr/>
          <p:nvPr/>
        </p:nvSpPr>
        <p:spPr>
          <a:xfrm>
            <a:off x="8229600" y="52760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 Exercice noté S2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7315200" y="5632704"/>
            <a:ext cx="4572000" cy="365760"/>
          </a:xfrm>
          <a:prstGeom prst="rect">
            <a:avLst/>
          </a:prstGeom>
          <a:solidFill>
            <a:srgbClr val="12295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7406640" y="56509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17h00</a:t>
            </a:r>
            <a:endParaRPr lang="en-US" sz="900" dirty="0"/>
          </a:p>
        </p:txBody>
      </p:sp>
      <p:sp>
        <p:nvSpPr>
          <p:cNvPr id="61" name="Text 54"/>
          <p:cNvSpPr/>
          <p:nvPr/>
        </p:nvSpPr>
        <p:spPr>
          <a:xfrm>
            <a:off x="8229600" y="56509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&amp; Q&amp;A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10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Signal Audio Numérique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Définitions, propriétés et environnement Python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761695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son physique au signal numérique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S1.1 – Fondements acoustiques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Fondements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2651760" cy="1737360"/>
          </a:xfrm>
          <a:prstGeom prst="rect">
            <a:avLst/>
          </a:prstGeom>
          <a:solidFill>
            <a:srgbClr val="8E44AD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6642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de pression atmosphérique se propageant dans l'air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1737360"/>
            <a:ext cx="27432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05840"/>
            <a:ext cx="2651760" cy="1737360"/>
          </a:xfrm>
          <a:prstGeom prst="rect">
            <a:avLst/>
          </a:prstGeom>
          <a:solidFill>
            <a:srgbClr val="0096B7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(capteur)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6642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Convertit la pression acoustique en tension électrique analogique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1737360"/>
            <a:ext cx="27432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F77F00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Convertisseur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6642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Échantillonne et quantifie le signal analogique → suite de nombres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78240" y="1737360"/>
            <a:ext cx="27432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1005840"/>
            <a:ext cx="2651760" cy="1737360"/>
          </a:xfrm>
          <a:prstGeom prst="rect">
            <a:avLst/>
          </a:prstGeom>
          <a:solidFill>
            <a:srgbClr val="2ECC71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5256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0" y="166420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valeurs d'amplitude indexées dans le temps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116128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2608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Correspondances physique ↔ numérique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11612880" cy="475488"/>
          </a:xfrm>
          <a:prstGeom prst="rect">
            <a:avLst/>
          </a:prstGeom>
          <a:solidFill>
            <a:srgbClr val="0D2040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3558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Grandeur physique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33558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Symbolisée par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6480" y="33558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 numérique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06840" y="33558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typique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840480"/>
            <a:ext cx="11612880" cy="475488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587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acoustique (Hz)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46120" y="38587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26480" y="38587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spectrale analysée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06840" y="38587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440 Hz = note A4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343400"/>
            <a:ext cx="11612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361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(pression, Pa)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46120" y="4361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26480" y="4361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flottante [-1, 1]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006840" y="43616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y[t] ∈ [-1, 1] après normalisation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4846320"/>
            <a:ext cx="11612880" cy="475488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8646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du son (s)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46120" y="48646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26480" y="48646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T × sr échantillons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006840" y="48646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× 22050 Hz = 66 150 points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5349240"/>
            <a:ext cx="11612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5367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Timbre / couleur du son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46120" y="5367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126480" y="5367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harmonique (FFT)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006840" y="5367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notes ≠ sur guitare vs piano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L'échantillonnage &amp; le théorème de Nyquist-Shannon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S1.1 – Fondement numérique essentiel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Échantillonnage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Théorème de Nyquist-Shannon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3533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reconstruire fidèlement un signal, la fréquence d'échantillonnage doit être au moins le double de la fréquence maximale contenue dans le signal  :  fs ≥ 2 × fmax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084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: signal sinusoïdal échantillonné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5394960" cy="228600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00400"/>
            <a:ext cx="176574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9494" y="2932645"/>
            <a:ext cx="176574" cy="26775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6068" y="2834640"/>
            <a:ext cx="176574" cy="9800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2641" y="2834640"/>
            <a:ext cx="176574" cy="9800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9215" y="2932645"/>
            <a:ext cx="176574" cy="26775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85789" y="3200400"/>
            <a:ext cx="176574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2363" y="3566160"/>
            <a:ext cx="176574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8937" y="3931920"/>
            <a:ext cx="176574" cy="26775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15510" y="4199675"/>
            <a:ext cx="176574" cy="9800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92084" y="4199675"/>
            <a:ext cx="176574" cy="9800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68658" y="3931920"/>
            <a:ext cx="176574" cy="26775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45232" y="3566160"/>
            <a:ext cx="176574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1806" y="3200400"/>
            <a:ext cx="176574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98379" y="2932645"/>
            <a:ext cx="176574" cy="26775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4953" y="2834640"/>
            <a:ext cx="176574" cy="9800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1527" y="2834640"/>
            <a:ext cx="176574" cy="9800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28101" y="2932645"/>
            <a:ext cx="176574" cy="26775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04674" y="3200400"/>
            <a:ext cx="176574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81248" y="3566160"/>
            <a:ext cx="176574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57822" y="3931920"/>
            <a:ext cx="176574" cy="26775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34396" y="4199675"/>
            <a:ext cx="176574" cy="9800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0970" y="4199675"/>
            <a:ext cx="176574" cy="9800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7543" y="3931920"/>
            <a:ext cx="176574" cy="26775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64117" y="3566160"/>
            <a:ext cx="176574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40691" y="3200400"/>
            <a:ext cx="176574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17265" y="2932645"/>
            <a:ext cx="176574" cy="26775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93839" y="2834640"/>
            <a:ext cx="176574" cy="9800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70412" y="2834640"/>
            <a:ext cx="176574" cy="9800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46986" y="2932645"/>
            <a:ext cx="176574" cy="267755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8912" y="3502152"/>
            <a:ext cx="128016" cy="1280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3566160"/>
            <a:ext cx="9144" cy="109728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968633" y="2770632"/>
            <a:ext cx="128016" cy="1280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32641" y="2834640"/>
            <a:ext cx="9144" cy="182880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498355" y="3502152"/>
            <a:ext cx="128016" cy="1280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62363" y="3566160"/>
            <a:ext cx="9144" cy="109728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2028076" y="4233672"/>
            <a:ext cx="128016" cy="1280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92084" y="4297680"/>
            <a:ext cx="9144" cy="36576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557798" y="3502152"/>
            <a:ext cx="128016" cy="1280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21806" y="3566160"/>
            <a:ext cx="9144" cy="109728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3087519" y="2770632"/>
            <a:ext cx="128016" cy="1280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51527" y="2834640"/>
            <a:ext cx="9144" cy="182880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3617240" y="3502152"/>
            <a:ext cx="128016" cy="1280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81248" y="3566160"/>
            <a:ext cx="9144" cy="109728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4146962" y="4233672"/>
            <a:ext cx="128016" cy="1280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10970" y="4297680"/>
            <a:ext cx="9144" cy="36576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4676683" y="3502152"/>
            <a:ext cx="128016" cy="1280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40691" y="3566160"/>
            <a:ext cx="9144" cy="109728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5206404" y="2770632"/>
            <a:ext cx="128016" cy="128016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70412" y="2834640"/>
            <a:ext cx="9144" cy="1828800"/>
          </a:xfrm>
          <a:prstGeom prst="line">
            <a:avLst/>
          </a:prstGeom>
          <a:noFill/>
          <a:ln w="12700">
            <a:solidFill>
              <a:srgbClr val="F77F00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457200" y="47365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Points d'échantillonnage (sr = 22 050 Hz → 1 point tous les ~45 µs)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035040" y="2423160"/>
            <a:ext cx="6126480" cy="466344"/>
          </a:xfrm>
          <a:prstGeom prst="rect">
            <a:avLst/>
          </a:prstGeom>
          <a:solidFill>
            <a:srgbClr val="0A1628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26480" y="2441448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138160" y="2441448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(Hz)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0149840" y="2441448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fmax utile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035040" y="2916936"/>
            <a:ext cx="6126480" cy="466344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26480" y="2935224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Téléphonie (GSM)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138160" y="2935224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8 000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10149840" y="2935224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4 000 Hz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035040" y="3410712"/>
            <a:ext cx="61264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26480" y="3429000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/ Hi-Fi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138160" y="3429000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44 100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10149840" y="3429000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22 050 Hz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035040" y="3904488"/>
            <a:ext cx="6126480" cy="466344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26480" y="3922776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défaut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8138160" y="3922776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22 050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0149840" y="3922776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11 025 Hz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6035040" y="4398264"/>
            <a:ext cx="61264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26480" y="4416552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professionnel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8138160" y="4416552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48 000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0149840" y="4416552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24 000 Hz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6035040" y="4892040"/>
            <a:ext cx="6126480" cy="466344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26480" y="4910328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résolution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8138160" y="4910328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96 000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10149840" y="4910328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48 000 Hz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035040" y="5440680"/>
            <a:ext cx="612648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72200" y="546811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Aliasing : si fs &lt; 2fmax, le signal est mal reconstruit → distorsions et artefacts. Toujours vérifier sr avant analyse.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Amplitude, dynamique &amp; décibels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S1.1 – Les grandeurs du signal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Amplitude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987552"/>
            <a:ext cx="10972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0241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instantanée y(t)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du signal à l'instant t. Après normalisation Librosa : y(t) ∈ [-1.0, +1.0]. Un signal silencieux oscille autour de 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109728" cy="11887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2257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crête (peak)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688336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|y(t)| sur la fenêtre considérée. Seuil de saturation à 1.0. Clipping = distorsion si dépassé.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84448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84448"/>
            <a:ext cx="109728" cy="1188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2102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(Root Mean Square)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986784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√(mean(y²)) → énergie perçue. Correspond mieux au volume ressenti que la valeur crête.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882896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882896"/>
            <a:ext cx="109728" cy="1188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9194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528523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en dB entre le niveau le plus fort et le plus faible. Signal CD ≈ 96 dB dynamique (16 bits).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987552"/>
            <a:ext cx="5577840" cy="1828800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clés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1371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dB(x) = 20 × log₁₀(|x| / xréf)    [amplitude]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46520" y="1691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dB(P) = 10 × log₁₀(P / Préf)       [puissance]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46520" y="20116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   = √(  Σ y[n]²  /  N  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23317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  = 20 × log₁₀(RMS_signal / RMS_bruit)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29260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Repères dB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291840"/>
            <a:ext cx="107899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8699" y="3310128"/>
            <a:ext cx="58357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dB SPL — Seuil d'audition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913632"/>
            <a:ext cx="161848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9288" y="393192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dB — Conversation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4535424"/>
            <a:ext cx="3236976" cy="4572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37776" y="4553712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dB — Trafic urbain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5157216"/>
            <a:ext cx="5125212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526012" y="5175504"/>
            <a:ext cx="8183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dB — Avion au décollage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6172200"/>
            <a:ext cx="114300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6263640"/>
            <a:ext cx="11210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 RMS et dynamique en Python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 = np.sqrt(np.mean(y**2))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peeak = np.max(np.abs(y))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dB_rms = 20 * np.log10(rms + 1e-10)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dynamique = 20 * np.log10(y.max() - y.min() + 1e-10)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print(f"RMS={rms:.4f}  Peak={peak:.4f}  dB_RMS={dB_rms:.1f} dB")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– Installation &amp; chargement d'un fichier audio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S1.2 – Prise en main de l'environnement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Librosa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987552"/>
            <a:ext cx="5486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0584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Librosa 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4173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Python spécialisée en analyse audio et musicale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Construite sur NumPy / SciPy — compatible avec scikit-learn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clés : chargement, visualisation, features (MFCC, chroma, spectro)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d'entrée : WAV, MP3, FLAC, OGG (via soundfile &amp; audioread)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toujours un tuple (y, sr) : tableau NumPy + fréquence d'échantillonnage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5486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37560"/>
            <a:ext cx="5486400" cy="6400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558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de librosa.load()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7673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vers le fichier audio (str ou pathlib.Path)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d'échantillonnage cible. Défaut=22050. sr=None conserve le sr original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4622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4462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(défaut) → mixage stéréo en mono. False conserve les canaux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8097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48097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Décalage de début de lecture (secondes)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515721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5157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à charger (secondes). Pratique pour les longs fichiers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550468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res_type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5504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rééchantillonnage : 'kaiser_best' (qualité) ou 'kaiser_fast'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987552"/>
            <a:ext cx="5943600" cy="274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9875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Installation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1261872"/>
            <a:ext cx="5943600" cy="91440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1307592"/>
            <a:ext cx="5724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librosa matplotlib numpy scipy soundfile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standard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librosa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librosa.display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267712"/>
            <a:ext cx="5943600" cy="274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2677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Chargement &amp; inspection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0760" y="2542032"/>
            <a:ext cx="5943600" cy="338328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2587752"/>
            <a:ext cx="57241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Chargement basique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sr = librosa.load("fichier.wav")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 : np.ndarray shape (N,), dtype float32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sr : int = 22050 (par défaut)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Conserver sr original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sr = librosa.load("fichier.wav", sr=None)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Charger 10s à partir de 5s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sr = librosa.load("fichier.wav", offset=5.0, duration=10.0)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Informations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print(f"Durée     : {len(y)/sr:.2f} 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print(f"Nb points : {len(y)}")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print(f"sr        : {sr} Hz")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print(f"min/max   : {y.min():.3f} / {y.max():.3f}")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 la forme d'onde (waveform)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S1.2 – Représentation temporelle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Waveform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987552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forme d'onde est la représentation la plus directe : amplitude en fonction du temps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X : temps en secondes (t = index / sr)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Y : amplitude normalisée [-1, +1]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d'identifier visuellement les silences, les attaques, les transitoires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librosa.display.waveshow() gère automatiquement l'axe temporel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de très longs signaux, waveshow() trace l'enveloppe (min/max par fenêtre)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279392"/>
            <a:ext cx="5303520" cy="91440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identifiables sur une forme d'onde 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873752"/>
            <a:ext cx="640080" cy="91440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50474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88720" y="4690872"/>
            <a:ext cx="457200" cy="4572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5047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91640" y="4690872"/>
            <a:ext cx="1371600" cy="45720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50474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08960" y="4690872"/>
            <a:ext cx="640080" cy="457200"/>
          </a:xfrm>
          <a:prstGeom prst="rect">
            <a:avLst/>
          </a:prstGeom>
          <a:solidFill>
            <a:srgbClr val="0D6080"/>
          </a:solidFill>
          <a:ln w="12700">
            <a:solidFill>
              <a:srgbClr val="0D6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50474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94760" y="4873752"/>
            <a:ext cx="822960" cy="91440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50474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89320" y="987552"/>
            <a:ext cx="6035040" cy="274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9875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Visualisation waveform – code complet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9320" y="1261872"/>
            <a:ext cx="6035040" cy="4828032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9048" y="1307592"/>
            <a:ext cx="5815584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librosa, librosa.display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sr = librosa.load("exemple.wav")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— Figure avec sous-graphes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plt.subplots(2, 1, figsize=(10, 6))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Waveform complète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librosa.display.waveshow(y, sr=sr, ax=axes[0], color='#00B4D8')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axes[0].set_title("Forme d'onde complète")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axes[0].set_xlabel("Temps (s)")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axes[0].set_ylabel("Amplitude")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Zoom sur 0.5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start, end = int(0.5*sr), int(1.0*sr)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axes[1].plot(np.arange(end-start)/sr + 0.5, y[start:end], color='#F77F00')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axes[1].set_title("Zoom : 0.5 s → 1.0 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axes[1].set_xlabel("Temps (s)")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axes[1].set_ylabel("Amplitude")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axes[1].axhline(0, color='white', linewidth=0.5)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propriétés numériques d'un signal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S1.3 – Analyse quantitative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Propriétés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11430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005840"/>
            <a:ext cx="2377440" cy="1024128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789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481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durée = len(y) / sr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80360" y="10789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5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= len(y) / sr  # secondes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0360" y="16002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vérifier la cohérence avec la durée attendue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11430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03120"/>
            <a:ext cx="2377440" cy="1024128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76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d'échantillonnage effective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578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 = N / 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80360" y="21762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5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print(f'sr = {sr} Hz | Δt = {1/sr*1000:.3f} ms')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80360" y="26974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Intervalle entre deux échantillons : 1/sr en secondes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11430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00400"/>
            <a:ext cx="2377440" cy="1024128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73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points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75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sr × durée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80360" y="32735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5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len(y)  # = sr * duration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80360" y="3794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détermine la résolution fréquentielle de la FFT : Δf = sr/N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11430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297680"/>
            <a:ext cx="2377440" cy="1024128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extrêmes &amp; dynamique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 = max(y) − min(y)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80360" y="43708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5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 = y.max() - y.min()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5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print(f'min={y.min():.3f} max={y.max():.3f}')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80360" y="48920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si |y| &gt; 1.0 → distorsion numérique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5394960"/>
            <a:ext cx="11430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5394960"/>
            <a:ext cx="2377440" cy="1024128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468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 totale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870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Σ y[n]²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80360" y="546811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5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 = np.sum(y**2)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5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 = np.sqrt(np.mean(y**2))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80360" y="5989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est préférable à la somme brute pour comparer des signaux de durées différentes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TP1 – Analyse d'un signal vocal avec Librosa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Travaux pratiques (45 min)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TP1 – Durée : 45 min  •  En binôme  •  Dataset : fichier vocal fourni ou téléchargé sur freesound.org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89888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389888"/>
            <a:ext cx="411480" cy="2148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89888"/>
            <a:ext cx="411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&amp; exploration (10 min)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1865376"/>
            <a:ext cx="4983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le fichier audio fourni (sr=22050)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: durée, nb d'échantillons, min/max amplitude, RMS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Essayer avec sr=None et comparer au sr forcé à 22050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389888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89888"/>
            <a:ext cx="411480" cy="2148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89888"/>
            <a:ext cx="411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waveform (15 min)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29400" y="1865376"/>
            <a:ext cx="4983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la forme d'onde complète (waveshow)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un zoom sur 0.5s → repérer les phonèmes / syllabes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visuellement au moins 2 silences et 2 zones actives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21608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21608"/>
            <a:ext cx="411480" cy="2148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21608"/>
            <a:ext cx="411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3794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sur le signal (10 min)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4197096"/>
            <a:ext cx="4983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dynamique en dB (20*log10(max/RMS))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l'énergie totale et l'énergie de chaque moitié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deux moitiés : quelle est la plus énergétique 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721608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721608"/>
            <a:ext cx="411480" cy="2148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721608"/>
            <a:ext cx="411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29400" y="3794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 (10 min)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29400" y="4197096"/>
            <a:ext cx="4983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uniquement les 3 premières secondes (duration=3)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Inverser le signal (y_inv = y[::-1]) et écouter (librosa.output.write_wav si disponible)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 de +6 dB (x2 en amplitude) : que se passe-t-il si &gt; 1.0 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S1 – Signal audio numérique (individuel, 30 min)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formative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1430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on dispose d'un enregistrement de 4,5 secondes capturé à sr = 16 000 Hz, amplitude normalisée, mono.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5577840" cy="1920240"/>
          </a:xfrm>
          <a:prstGeom prst="rect">
            <a:avLst/>
          </a:prstGeom>
          <a:solidFill>
            <a:srgbClr val="FFF8E1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298448"/>
            <a:ext cx="640080" cy="19202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98448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371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Propriétés numériques (4 pts)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" y="1755648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Calculer N, le nombre total d'échantillons.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Calculer l'intervalle temporel Δt entre deux échantillons en ms.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Quelle est la fréquence maximale analysable (Nyquist)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Si on rééchantillonne à 22 050 Hz, quel est le nouveau N 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5577840" cy="1920240"/>
          </a:xfrm>
          <a:prstGeom prst="rect">
            <a:avLst/>
          </a:prstGeom>
          <a:solidFill>
            <a:srgbClr val="FFF8E1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364992"/>
            <a:ext cx="640080" cy="19202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64992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4381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d'un extrait de code (4 pts)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3822192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y, sr = librosa.load("son.wav", sr=None)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print(y.shape, sr, y.max())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Sortie : (72000,) 16000 0.843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Quelle est la durée réelle du fichier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Pourquoi max ≠ 1.0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Si on appelle à nouveau avec sr=22050, quel sera y.shape 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298448"/>
            <a:ext cx="5577840" cy="1920240"/>
          </a:xfrm>
          <a:prstGeom prst="rect">
            <a:avLst/>
          </a:prstGeom>
          <a:solidFill>
            <a:srgbClr val="FFF8E1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298448"/>
            <a:ext cx="640080" cy="19202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298448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1371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et interprétation (4 pts)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95160" y="1755648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calcule l'énergie de la 1re moitié E1=1824 et de la 2e moitié E2=312.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Calculer E_total et les proportions (%).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Que peut-on déduire du contenu acoustique du fichier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Calculer RMS pour chaque moitié (N/2 = 36 000 pts).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De combien de dB la 1re moitié est-elle plus forte 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364992"/>
            <a:ext cx="5577840" cy="1920240"/>
          </a:xfrm>
          <a:prstGeom prst="rect">
            <a:avLst/>
          </a:prstGeom>
          <a:solidFill>
            <a:srgbClr val="FFF8E1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3364992"/>
            <a:ext cx="640080" cy="19202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364992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5160" y="34381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ouverte (2 pts)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95160" y="3822192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ingénieur audio enregistre une voix à 48 kHz pour un podcast final en 22 kHz. Quels avantages présente le fait d'enregistrer à sr élevé avant de réduire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en 3–4 lignes.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5376672"/>
            <a:ext cx="11430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3766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/14 pts  •  Barème : Q1=4  Q2=4  Q3=4  Q4=2  •  Réponses sur feuille ou notebook Jupyter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– Exercice S1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de réponse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1430000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Corrigé indicatif – Plusieurs formulations correctes acceptées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234440"/>
            <a:ext cx="5577840" cy="2423160"/>
          </a:xfrm>
          <a:prstGeom prst="rect">
            <a:avLst/>
          </a:prstGeom>
          <a:solidFill>
            <a:srgbClr val="E8F8F0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234440"/>
            <a:ext cx="457200" cy="2423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457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137160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 = T × sr = 4.5 × 16 000 = 72 000 échantillons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Δt = 1/16000 = 62.5 µs = 0.0625 ms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Nyquist = sr/2 = 16 000/2 = 8 000 Hz (suffisant pour la voix, téléphonie)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N' = 4.5 × 22 050 = 99 225 points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5577840" cy="2423160"/>
          </a:xfrm>
          <a:prstGeom prst="rect">
            <a:avLst/>
          </a:prstGeom>
          <a:solidFill>
            <a:srgbClr val="E8F8F0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34440"/>
            <a:ext cx="457200" cy="2423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34440"/>
            <a:ext cx="457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137160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Durée = 72000 / 16000 = 4.5 s  (sr=None préserve le sr original)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max ≠ 1.0 → le signal n'a pas saturé (pas de clipping), c'est normal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y.shape = (99225,)  — même durée mais rééchantillonné à 22050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5577840" cy="2423160"/>
          </a:xfrm>
          <a:prstGeom prst="rect">
            <a:avLst/>
          </a:prstGeom>
          <a:solidFill>
            <a:srgbClr val="E8F8F0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40480"/>
            <a:ext cx="457200" cy="2423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40480"/>
            <a:ext cx="457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97764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E_total = 1824 + 312 = 2136  →  E1 = 85.4%  /  E2 = 14.6%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La 1re moitié est beaucoup plus active (parole dense, musique) ; la 2e est surtout un silence / queue de réverbération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RMS1 = √(1824/36000) ≈ 0.0225   RMS2 = √(312/36000) ≈ 0.0093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ΔdB = 20×log10(0.0225/0.0093) ≈ 7.7 dB  → la 1re moitié est ~8 dB plus forte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3840480"/>
            <a:ext cx="5577840" cy="2423160"/>
          </a:xfrm>
          <a:prstGeom prst="rect">
            <a:avLst/>
          </a:prstGeom>
          <a:solidFill>
            <a:srgbClr val="E8F8F0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840480"/>
            <a:ext cx="457200" cy="2423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840480"/>
            <a:ext cx="457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397764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en haute résolution (48 kHz) permet de capturer tout le spectre utile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dégradation précoce. La réduction ultérieure (dithering, filtrage anti-alias)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plus propre que si on avait enregistré directement trop bas.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conserve aussi la flexibilité pour d'autres usages (podcast, broadcast…).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1000" kern="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Fréquences &amp; Spectrogrammes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Transformée de Fourier · STFT · Spectrogramme Mel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7616952" cy="457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derrière la Transformée de Fourier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S2.1 – Du temps vers les fréquences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 Intuition FFT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11430000" cy="777240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🎹  Analogie : le prisme acoustique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 prisme décompose la lumière blanche en couleurs, la FFT décompose un signal complexe en somme de sinusoïdes pures. Chaque fréquence correspond à une 'couleur' acoustique.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Transformée de Fourier Discrète (DFT)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0" cy="685800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408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DFT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578608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X[k]  =  Σ(n=0 → N-1)  x[n] · e^{−j2πkn/N}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54864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X[k] : coefficient de fréquence k (complexe)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 : n-ième échantillon du signal temporel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nombre total d'échantillons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k/N × sr : fréquence correspondante en Hz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|X[k]| : magnitude (amplitude à cette fréquence)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∠X[k] : phase (décalage temporel de cette sinusoïde)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5760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874520"/>
            <a:ext cx="5760720" cy="6400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8928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vs FFT : pourquoi ça va vite 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2331720"/>
            <a:ext cx="5760720" cy="310896"/>
          </a:xfrm>
          <a:prstGeom prst="rect">
            <a:avLst/>
          </a:prstGeom>
          <a:solidFill>
            <a:srgbClr val="0D204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350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2350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Complexité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0" y="2350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N=44100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660904"/>
            <a:ext cx="5760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679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naïve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0" y="2679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75520" y="2679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1,9 × 10⁹ ops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990088"/>
            <a:ext cx="5760720" cy="310896"/>
          </a:xfrm>
          <a:prstGeom prst="rect">
            <a:avLst/>
          </a:prstGeom>
          <a:solidFill>
            <a:srgbClr val="F0F8FC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008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(Cooley-Tukey)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46720" y="3008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log₂ N)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875520" y="3008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716 530 ops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3319272"/>
            <a:ext cx="5760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4672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87552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2 660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0" y="3749040"/>
            <a:ext cx="57607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3749040"/>
            <a:ext cx="57607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3767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rfft vs fft : laquelle utiliser ?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3640" y="41605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np.fft.fft(y) → N coefficients complexes (symétrie hermitienne)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np.fft.rfft(y) → N//2+1 coefficients (signal réel) — suffisant en audio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np.fft.rfftfreq(N, d=1/sr) → fréquences associées en Hz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pour de l'audio, toujours rfft — deux fois plus rapide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5897880"/>
            <a:ext cx="11430000" cy="68580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5989320"/>
            <a:ext cx="11210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np.abs(np.fft.rfft(y))        # magnitudes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freqs = np.fft.rfftfreq(len(y), 1/sr)  # Hz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print(f"Résolution fréq : {sr/len(y):.2f} Hz/bin")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et interpréter un spectre de fréquences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S2.1 – Analyse fréquentielle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 Spectre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987552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X : fréquences en Hz (0 → sr/2 = Nyquist)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Y : magnitude |X[f]| — amplitude relative de chaque composante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→ présence d'une sinusoïde à cette fréquence dans le signal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 f₀ : fréquence la plus basse et généralement la plus forte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Harmoniques : multiples entiers de f₀ (f₀, 2f₀, 3f₀…) → timbre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large bande : énergie répartie sur toutes les fréquences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5303520" cy="21945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95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Spectre type : voix parlée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8766" y="5779008"/>
            <a:ext cx="82296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6689" y="4544568"/>
            <a:ext cx="82296" cy="1399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0458" y="4956048"/>
            <a:ext cx="82296" cy="9875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4228" y="5202936"/>
            <a:ext cx="82296" cy="7406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7997" y="5449824"/>
            <a:ext cx="82296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1766" y="5614416"/>
            <a:ext cx="82296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85535" y="5696712"/>
            <a:ext cx="82296" cy="246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49305" y="5285232"/>
            <a:ext cx="82296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13074" y="5120640"/>
            <a:ext cx="82296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843" y="5449824"/>
            <a:ext cx="82296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40612" y="5614416"/>
            <a:ext cx="82296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04382" y="5779008"/>
            <a:ext cx="82296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19843" y="5449824"/>
            <a:ext cx="82296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83612" y="5746090"/>
            <a:ext cx="82296" cy="19751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7382" y="5647334"/>
            <a:ext cx="82296" cy="29626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9074" y="5811926"/>
            <a:ext cx="82296" cy="13167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343400"/>
            <a:ext cx="5029200" cy="9144"/>
          </a:xfrm>
          <a:prstGeom prst="line">
            <a:avLst/>
          </a:prstGeom>
          <a:noFill/>
          <a:ln w="6350">
            <a:solidFill>
              <a:srgbClr val="8BAA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≈ 150 Hz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8912" y="59618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20640" y="59618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kHz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89320" y="987552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9320" y="987552"/>
            <a:ext cx="10972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10058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pur (diapason)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99632" y="13716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Fondamentale : 440 Hz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99632" y="16459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pic très étroit à 440 Hz, harmoniques quasi absentes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89320" y="2313432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89320" y="2313432"/>
            <a:ext cx="109728" cy="11887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23317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parlée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99632" y="26974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Fondamentale : 80–300 Hz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99632" y="29718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 + série d'harmoniques espacées de f₀, formants voyelle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89320" y="3639312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89320" y="3639312"/>
            <a:ext cx="109728" cy="1188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3657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à vent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99632" y="402336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Fondamentale : Variable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99632" y="4297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 forte + harmoniques très riches = timbre caractéristique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989320" y="4965192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89320" y="4965192"/>
            <a:ext cx="109728" cy="1188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49834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blanc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99632" y="53492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Fondamentale : Plat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99632" y="56235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 uniforme sur toutes les fréquences → spectre plat horizontal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5760" y="5925312"/>
            <a:ext cx="11430000" cy="68580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" y="6016752"/>
            <a:ext cx="11210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np.abs(np.fft.rfft(y))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freqs = np.fft.rfftfreq(len(y), 1/sr)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plt.figure(figsize=(10,4))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plt.plot(freqs, D, color='#00B4D8')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plt.xlim([0, 4000])  # zoom sur voix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plt.xlabel('Fréquence (Hz)'); plt.ylabel('Magnitude')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f0_idx = np.argmax(D); print(f"f0 ≈ {freqs[f0_idx]:.0f} Hz")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STFT – Short-Time Fourier Transform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S2.2 – Spectrogramme statique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 STFT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11430000" cy="749808"/>
          </a:xfrm>
          <a:prstGeom prst="rect">
            <a:avLst/>
          </a:prstGeom>
          <a:solidFill>
            <a:srgbClr val="FFF3CD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Limite de la FFT globale 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3258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FFT sur tout le signal nous dit QUELLES fréquences sont présentes, mais pas QUAND. Un signal musical évolutif (mélodie) perd son information temporelle.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la STFT (fenêtrage glissant)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240280"/>
            <a:ext cx="54864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Diviser le signal en fenêtres temporelles courtes (n_fft ≈ 2048 pts)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une FFT sur chaque fenêtre → spectre local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glisser la fenêtre de hop_length en hop_length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matrice 2D [fréquences × temps] = spectrogramme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temps/fréquence : grande fenêtre → meilleure résolution fréq mais moins de précision temporelle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663440"/>
            <a:ext cx="5486400" cy="1463040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6817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librosa.stft()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5074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n_fft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5074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2048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5074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de fenêtre FFT. Résol. fréq : sr/n_fft Hz/bin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5330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hop_length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5330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5330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Décalage entre fenêtres (= n_fft/4). Résol. temporelle : hop/sr 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55869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win_length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55869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= n_fft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55869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réelle de la fenêtre (avant zero-padding)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5843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58430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'hann'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0" y="58430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fenêtre : hann (défaut), hamming, blackman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987552"/>
            <a:ext cx="5943600" cy="274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9875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STFT complète – code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1261872"/>
            <a:ext cx="5943600" cy="4864608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1307592"/>
            <a:ext cx="5724144" cy="472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librosa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librosa.display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sr = librosa.load("fichier.wav")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STFT → matrice complexe [n_fft/2+1 × 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librosa.stft(y, n_fft=2048, hop_length=512)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Magnitude en 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D_dB = librosa.amplitude_to_db(np.abs(D), ref=np.max)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Résolutions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sr / 2048           # Hz par bin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 = 512 / sr            # secondes par frame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print(f"Résol. fréq : {df:.1f} Hz/bin")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print(f"Résol. temps : {dt*1000:.1f} ms/frame")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print(f"Shape D : {D.shape}")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plt.subplots(figsize=(10,4))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librosa.display.specshow(D_dB, sr=sr, hop_length=512,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x_axis='time', y_axis='hz', ax=ax)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fig.colorbar(img, ax=ax, format='%+2.0f dB')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ax.set_title('Spectrogramme STFT')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fenêtrage – Windowing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S2.2 – Pourquoi pondérer les fenêtres 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 Windowing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987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de la fenêtre rectangulaire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Tronquer un signal revient à le multiplier par une fenêtre rectangulaire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discontinuité aux bords introduit des artefacts fréquentiels : le spectral leakage (fuite spectrale)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hautes fréquences contaminées faussent l'interprétation du spectre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fenêtres pondérées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218688"/>
            <a:ext cx="54864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fenêtres pondérées réduisent progressivement l'amplitude aux bords → discontinuité atténuée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 (défaut Librosa) : excellent compromis fuite / résolution principale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: légèrement moins de fuite que Hann, lobe principal similaire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Blackman : très faible fuite mais lobe principal plus large (moins résolutif)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pratique : Hann pour quasi tout le signal audio ML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987552"/>
            <a:ext cx="5760720" cy="47091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9875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de fenêtres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399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Rectangulaire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55280" y="1508760"/>
            <a:ext cx="411480" cy="731520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1508760"/>
            <a:ext cx="411480" cy="9144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1508760"/>
            <a:ext cx="411480" cy="9144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1508760"/>
            <a:ext cx="411480" cy="9144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0" y="1508760"/>
            <a:ext cx="411480" cy="9144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0" y="1508760"/>
            <a:ext cx="411480" cy="9144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0" y="1508760"/>
            <a:ext cx="411480" cy="9144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35640" y="1508760"/>
            <a:ext cx="411480" cy="9144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47120" y="1508760"/>
            <a:ext cx="411480" cy="731520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450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55280" y="3206252"/>
            <a:ext cx="411480" cy="85588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2989722"/>
            <a:ext cx="411480" cy="21653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0" y="2743200"/>
            <a:ext cx="411480" cy="246522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9720" y="2582266"/>
            <a:ext cx="411480" cy="160934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0" y="2560320"/>
            <a:ext cx="411480" cy="21946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12680" y="2560320"/>
            <a:ext cx="411480" cy="21946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24160" y="2582266"/>
            <a:ext cx="411480" cy="160934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35640" y="2743200"/>
            <a:ext cx="411480" cy="246522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247120" y="2989722"/>
            <a:ext cx="411480" cy="21653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502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55280" y="4205874"/>
            <a:ext cx="411480" cy="79004"/>
          </a:xfrm>
          <a:prstGeom prst="line">
            <a:avLst/>
          </a:prstGeom>
          <a:noFill/>
          <a:ln w="31750">
            <a:solidFill>
              <a:srgbClr val="F77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66760" y="4006901"/>
            <a:ext cx="411480" cy="198973"/>
          </a:xfrm>
          <a:prstGeom prst="line">
            <a:avLst/>
          </a:prstGeom>
          <a:noFill/>
          <a:ln w="31750">
            <a:solidFill>
              <a:srgbClr val="F77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8240" y="3780130"/>
            <a:ext cx="411480" cy="226771"/>
          </a:xfrm>
          <a:prstGeom prst="line">
            <a:avLst/>
          </a:prstGeom>
          <a:noFill/>
          <a:ln w="31750">
            <a:solidFill>
              <a:srgbClr val="F77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9720" y="3633826"/>
            <a:ext cx="411480" cy="146304"/>
          </a:xfrm>
          <a:prstGeom prst="line">
            <a:avLst/>
          </a:prstGeom>
          <a:noFill/>
          <a:ln w="31750">
            <a:solidFill>
              <a:srgbClr val="F77F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0" y="3611880"/>
            <a:ext cx="411480" cy="21946"/>
          </a:xfrm>
          <a:prstGeom prst="line">
            <a:avLst/>
          </a:prstGeom>
          <a:noFill/>
          <a:ln w="31750">
            <a:solidFill>
              <a:srgbClr val="F77F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12680" y="3611880"/>
            <a:ext cx="411480" cy="21946"/>
          </a:xfrm>
          <a:prstGeom prst="line">
            <a:avLst/>
          </a:prstGeom>
          <a:noFill/>
          <a:ln w="31750">
            <a:solidFill>
              <a:srgbClr val="F77F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24160" y="3633826"/>
            <a:ext cx="411480" cy="146304"/>
          </a:xfrm>
          <a:prstGeom prst="line">
            <a:avLst/>
          </a:prstGeom>
          <a:noFill/>
          <a:ln w="31750">
            <a:solidFill>
              <a:srgbClr val="F77F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35640" y="3780130"/>
            <a:ext cx="411480" cy="226771"/>
          </a:xfrm>
          <a:prstGeom prst="line">
            <a:avLst/>
          </a:prstGeom>
          <a:noFill/>
          <a:ln w="31750">
            <a:solidFill>
              <a:srgbClr val="F77F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247120" y="4006901"/>
            <a:ext cx="411480" cy="198973"/>
          </a:xfrm>
          <a:prstGeom prst="line">
            <a:avLst/>
          </a:prstGeom>
          <a:noFill/>
          <a:ln w="31750">
            <a:solidFill>
              <a:srgbClr val="F77F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4553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Blackman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955280" y="5365699"/>
            <a:ext cx="411480" cy="29261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66760" y="5248656"/>
            <a:ext cx="411480" cy="117043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78240" y="4934102"/>
            <a:ext cx="411480" cy="314554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89720" y="4700016"/>
            <a:ext cx="411480" cy="234086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0" y="4663440"/>
            <a:ext cx="411480" cy="36576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12680" y="4663440"/>
            <a:ext cx="411480" cy="36576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424160" y="4700016"/>
            <a:ext cx="411480" cy="234086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35640" y="4934102"/>
            <a:ext cx="411480" cy="314554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247120" y="5248656"/>
            <a:ext cx="411480" cy="117043"/>
          </a:xfrm>
          <a:prstGeom prst="line">
            <a:avLst/>
          </a:prstGeom>
          <a:noFill/>
          <a:ln w="31750">
            <a:solidFill>
              <a:srgbClr val="2ECC7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" y="5870448"/>
            <a:ext cx="11430000" cy="713232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" y="5961888"/>
            <a:ext cx="11210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Choisir la fenêtre dans librosa.stft()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D_hann   = librosa.stft(y, window='hann')      # défaut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D_hamming= librosa.stft(y, window='hamming')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D_black  = librosa.stft(y, window='blackman')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Créer une fenêtre personnalisée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scipy.signal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= scipy.signal.windows.hann(2048)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D_custom = librosa.stft(y, window=win)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spectrogramme Mel – Échelle perceptuelle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S2.2 – Vers la perception humaine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 Mel Spectro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987552"/>
            <a:ext cx="5486400" cy="6400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L'échelle Mel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417320"/>
            <a:ext cx="5212080" cy="548640"/>
          </a:xfrm>
          <a:prstGeom prst="rect">
            <a:avLst/>
          </a:prstGeom>
          <a:solidFill>
            <a:srgbClr val="1229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417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Mel(f) = 2595 × log₁₀(1 + f / 700)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L'oreille humaine est plus sensible aux basses fréquences qu'aux hautes → échelle logarithmique.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95728"/>
            <a:ext cx="54864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140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Hz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86000" y="24140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0" y="24140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Remarque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779776"/>
            <a:ext cx="5486400" cy="365760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980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27980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0" y="27980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Basses — forte sensibilité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163824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821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86000" y="31821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0" y="31821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(1 Mel = 1 Hz ici)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547872"/>
            <a:ext cx="5486400" cy="365760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661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86000" y="35661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2 146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0" y="35661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Voyelles, consonnes sibilantes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93192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50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8 000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286000" y="3950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2 840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14800" y="3950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Parole haute fréquence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315968"/>
            <a:ext cx="5486400" cy="365760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3342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16 000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86000" y="43342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3 534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0" y="43342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quasi inaudible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846320"/>
            <a:ext cx="5486400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46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de filtres Mel (n_mels=8 ici)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7162" y="5166360"/>
            <a:ext cx="625450" cy="822960"/>
          </a:xfrm>
          <a:prstGeom prst="rect">
            <a:avLst/>
          </a:prstGeom>
          <a:solidFill>
            <a:srgbClr val="E74C3C">
              <a:alpha val="7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8068" y="5166360"/>
            <a:ext cx="781812" cy="822960"/>
          </a:xfrm>
          <a:prstGeom prst="rect">
            <a:avLst/>
          </a:prstGeom>
          <a:solidFill>
            <a:srgbClr val="E67E22">
              <a:alpha val="7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93215" y="5166360"/>
            <a:ext cx="938174" cy="822960"/>
          </a:xfrm>
          <a:prstGeom prst="rect">
            <a:avLst/>
          </a:prstGeom>
          <a:solidFill>
            <a:srgbClr val="F1C40F">
              <a:alpha val="70000"/>
            </a:srgbClr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18665" y="5166360"/>
            <a:ext cx="1146658" cy="822960"/>
          </a:xfrm>
          <a:prstGeom prst="rect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52598" y="5166360"/>
            <a:ext cx="1146658" cy="822960"/>
          </a:xfrm>
          <a:prstGeom prst="rect">
            <a:avLst/>
          </a:prstGeom>
          <a:solidFill>
            <a:srgbClr val="1ABC9C">
              <a:alpha val="7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86530" y="5166360"/>
            <a:ext cx="938174" cy="82296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90161" y="5166360"/>
            <a:ext cx="781812" cy="822960"/>
          </a:xfrm>
          <a:prstGeom prst="rect">
            <a:avLst/>
          </a:prstGeom>
          <a:solidFill>
            <a:srgbClr val="8E44AD">
              <a:alpha val="7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37430" y="5166360"/>
            <a:ext cx="625450" cy="822960"/>
          </a:xfrm>
          <a:prstGeom prst="rect">
            <a:avLst/>
          </a:prstGeom>
          <a:solidFill>
            <a:srgbClr val="8E44AD">
              <a:alpha val="7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6016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de plus en plus larges vers les hautes fréquences (log)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987552"/>
            <a:ext cx="5943600" cy="274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9875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Spectrogramme Mel – code complet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80760" y="1261872"/>
            <a:ext cx="5943600" cy="484632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0488" y="1307592"/>
            <a:ext cx="5724144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Spectrogramme Mel complet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librosa.feature.melspectrogram(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y=y, sr=sr,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n_mels=128,       # nb de bandes Mel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fmax=8000,        # fréquence max analysée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n_fft=2048,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hop_length=512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Conversion en dB (log-compression)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S_dB = librosa.power_to_db(S, ref=np.max)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print(f"Shape : {S.shape}")  # (128, 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print(f"Min   : {S_dB.min():.1f} dB")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print(f"Max   : {S_dB.max():.1f} dB")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plt.subplots(figsize=(10, 4))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librosa.display.specshow(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S_dB, sr=sr, hop_length=512,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x_axis='time', y_axis='mel',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fmax=8000, ax=ax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fig.colorbar(img, ax=ax, format='%+2.0f dB')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ax.set_title('Spectrogramme Mel')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vs Spectrogramme Mel : quand utiliser quoi 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S2.2 – Choix de la représentation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868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 Choix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11430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058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51960" y="10058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(linéaire)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0058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Spectrogramme Mel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490472"/>
            <a:ext cx="11430000" cy="475488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087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fréquence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51960" y="15087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 en Hz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15087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Logarithmique (Mel)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993392"/>
            <a:ext cx="1143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116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basses fréq.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0116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(bins uniformes)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20116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 (plus de bandes)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496312"/>
            <a:ext cx="11430000" cy="475488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146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hautes fréq.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51960" y="25146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25146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999232"/>
            <a:ext cx="1143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17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Pertinence perceptuelle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51960" y="3017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(physique)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3017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(mimique l'audition)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502152"/>
            <a:ext cx="11430000" cy="475488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204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typique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51960" y="35204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(1025, 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35204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(128, T) ou (40, 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05072"/>
            <a:ext cx="1143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233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inverse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51960" y="40233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(librosa.istft)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40233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(non inversible exactement)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507992"/>
            <a:ext cx="11430000" cy="475488"/>
          </a:xfrm>
          <a:prstGeom prst="rect">
            <a:avLst/>
          </a:prstGeom>
          <a:solidFill>
            <a:srgbClr val="E8F4FA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5262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ML classique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51960" y="45262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Rarement direct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452628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Recommandé (SVM, RF, CNN)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5010912"/>
            <a:ext cx="1143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029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Deep Learning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251960" y="5029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Parfois (VoiceConv)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46720" y="5029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Standard (MFCC, CNN audio)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5212080"/>
            <a:ext cx="11430000" cy="914400"/>
          </a:xfrm>
          <a:prstGeom prst="rect">
            <a:avLst/>
          </a:prstGeom>
          <a:solidFill>
            <a:srgbClr val="122952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8640" y="52303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Règle de décision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" y="5577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audio / ML → Mel (+ MFCC)  •  Reconstruction / séparation de sources → STFT  •  Deep learning (CNN) → Mel dB  •  Analyse acoustique fine (harmoniques) → STFT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TP2 – FFT &amp; Spectrogrammes (45 min)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 Travaux pratiques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TP2 – 45 min  •  En binôme  •  Continuer avec le même fichier audio que le TP1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389888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389888"/>
            <a:ext cx="411480" cy="219456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89888"/>
            <a:ext cx="411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14813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&amp; spectre fréquentiel (12 min)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1892808"/>
            <a:ext cx="4983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FFT avec np.fft.rfft(y) et rfftfreq()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la magnitude en fonction des fréquences (0 → 4000 Hz)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la fondamentale f0 avec np.argmax(D)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les 5 fréquences les plus énergétiques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389888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89888"/>
            <a:ext cx="411480" cy="219456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89888"/>
            <a:ext cx="411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29400" y="14813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Spectrogramme STFT (12 min)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29400" y="1892808"/>
            <a:ext cx="4983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STFT avec n_fft=2048, hop_length=512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en dB avec amplitude_to_db()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avec specshow(x_axis='time', y_axis='hz')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des zones temporelles à énergie forte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67328"/>
            <a:ext cx="411480" cy="219456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67328"/>
            <a:ext cx="411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385876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Spectrogramme Mel (12 min)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4270248"/>
            <a:ext cx="4983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 Mel spectro avec n_mels=128, fmax=8000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côte à côte STFT et Mel (plt.subplot 1×2)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Commenter : quelle représentation est plus lisible 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767328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767328"/>
            <a:ext cx="411480" cy="2194560"/>
          </a:xfrm>
          <a:prstGeom prst="rect">
            <a:avLst/>
          </a:prstGeom>
          <a:solidFill>
            <a:srgbClr val="122952"/>
          </a:solidFill>
          <a:ln w="12700">
            <a:solidFill>
              <a:srgbClr val="1229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767328"/>
            <a:ext cx="411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29400" y="385876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des paramètres (9 min)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29400" y="4270248"/>
            <a:ext cx="49834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n_fft = 512, 1024, 4096 → observer la résolution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n_mels = 40, 80, 128 → impact sur la granularité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vos observations dans un markdown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S2 – FFT &amp; Spectrogrammes (individuel, 30 min)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formative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1430000" cy="384048"/>
          </a:xfrm>
          <a:prstGeom prst="rect">
            <a:avLst/>
          </a:prstGeom>
          <a:solidFill>
            <a:srgbClr val="122952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229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signal audio de 2 s, sr = 22 050 Hz. La FFT donne D = np.fft.rfft(y), shape (22050,).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5577840" cy="1938528"/>
          </a:xfrm>
          <a:prstGeom prst="rect">
            <a:avLst/>
          </a:prstGeom>
          <a:solidFill>
            <a:srgbClr val="FFF8E1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298448"/>
            <a:ext cx="640080" cy="19385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98448"/>
            <a:ext cx="6400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371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– propriétés (4 pts)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" y="1755648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Combien de bins fréquentiels contient rfft(y) ? Justifier.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Calculer la résolution fréquentielle Δf (Hz/bin).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À quel bin correspond f = 440 Hz (La4)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Si on double N (zero-padding à 44 100 pts), que change-t-on : résolution réelle ou artificielle 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5577840" cy="1938528"/>
          </a:xfrm>
          <a:prstGeom prst="rect">
            <a:avLst/>
          </a:prstGeom>
          <a:solidFill>
            <a:srgbClr val="FFF8E1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364992"/>
            <a:ext cx="640080" cy="19385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64992"/>
            <a:ext cx="6400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4381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spectrogramme (4 pts)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3822192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paramètres : n_fft=2048, hop_length=512, sr=22050.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Calculer la résolution fréquentielle du spectrogramme (Hz/bin).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Calculer la résolution temporelle (ms/frame).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Pour une durée de 3 s, combien y a-t-il de frames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Donner la shape de la matrice D retournée par librosa.stft().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298448"/>
            <a:ext cx="5577840" cy="1938528"/>
          </a:xfrm>
          <a:prstGeom prst="rect">
            <a:avLst/>
          </a:prstGeom>
          <a:solidFill>
            <a:srgbClr val="FFF8E1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298448"/>
            <a:ext cx="640080" cy="19385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298448"/>
            <a:ext cx="6400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1371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vs STFT (4 pts)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95160" y="1755648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Convertir 500 Hz en Mel (formule : 2595×log10(1+f/700)).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Convertir 2000 Hz en Mel.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Calculer l'écart en Hz entre 500 et 1000 Hz, et entre 4000 et 4500 Hz.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Même écart en Hz → même écart en Mel ? Pourquoi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Pourquoi n_mels=40 est souvent suffisant pour les MFCC (voix) 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364992"/>
            <a:ext cx="5577840" cy="1938528"/>
          </a:xfrm>
          <a:prstGeom prst="rect">
            <a:avLst/>
          </a:prstGeom>
          <a:solidFill>
            <a:srgbClr val="FFF8E1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3364992"/>
            <a:ext cx="640080" cy="19385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364992"/>
            <a:ext cx="6400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5160" y="34381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représentation (2 pts)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95160" y="3822192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souhaite entraîner un modèle pour distinguer chants de baleines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(20–8000 Hz) de bruits sous-marins industriels (large bande).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Recommander une représentation et justifier le choix de n_fft,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hop_length et fmax. Répondre en 4–5 lignes.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5376672"/>
            <a:ext cx="114300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3766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/14 pts  •  Q1=4  Q2=4  Q3=4  Q4=2  •  Calculatrice autorisée – Réponses sur feuille ou notebook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– Exercice S2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de réponse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1430000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229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Corrigé indicatif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234440"/>
            <a:ext cx="5577840" cy="2423160"/>
          </a:xfrm>
          <a:prstGeom prst="rect">
            <a:avLst/>
          </a:prstGeom>
          <a:solidFill>
            <a:srgbClr val="E8F8F0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234440"/>
            <a:ext cx="457200" cy="2423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457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137160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rfft retourne N//2+1 bins = 44100//2+1 = 22 051 bins (signal réel → symétrie)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Δf = sr/N = 22050/44100 = 0.5 Hz/bin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Bin 440 Hz = 440/0.5 = 880e bin (index 880)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Zero-padding améliore la résolution artificielle (interpolation) mais pas la résolution réelle (liée à la durée T=N/sr) ; aucune nouvelle information n'est ajoutée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5577840" cy="2423160"/>
          </a:xfrm>
          <a:prstGeom prst="rect">
            <a:avLst/>
          </a:prstGeom>
          <a:solidFill>
            <a:srgbClr val="E8F8F0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34440"/>
            <a:ext cx="457200" cy="2423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34440"/>
            <a:ext cx="457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137160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Δf = sr/n_fft = 22050/2048 ≈ 10.8 Hz/bin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Δt = hop_length/sr = 512/22050 ≈ 23.2 ms/frame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nb_frames = ⌊(N - n_fft)/hop_length⌋ + 1 ≈ ⌊(66150-2048)/512⌋+1 = 126 frames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Shape = (n_fft//2+1, nb_frames) = (1025, 126)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5577840" cy="2423160"/>
          </a:xfrm>
          <a:prstGeom prst="rect">
            <a:avLst/>
          </a:prstGeom>
          <a:solidFill>
            <a:srgbClr val="E8F8F0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40480"/>
            <a:ext cx="457200" cy="2423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40480"/>
            <a:ext cx="457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97764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Mel(500) = 2595×log10(1+500/700) = 2595×log10(1.714) ≈ 2595×0.234 ≈ 607 Mel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Mel(2000) = 2595×log10(1+2000/700) = 2595×log10(3.857) ≈ 2595×0.586 ≈ 1520 Mel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Δf[500→1000]=500 Hz vs Δf[4000→4500]=500 Hz → même en Hz, mais Mel(1000)-Mel(500)≈393 Mel vs Mel(4500)-Mel(4000)≈66 Mel → très différent ! L'oreille est bien plus sensible aux basses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Les formants vocaux pertinents sont dans [300–3400 Hz]. 40 bandes couvrent bien cet intervalle avec suffisamment de résolution pour discriminer les voyelles/consonnes.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3840480"/>
            <a:ext cx="5577840" cy="2423160"/>
          </a:xfrm>
          <a:prstGeom prst="rect">
            <a:avLst/>
          </a:prstGeom>
          <a:solidFill>
            <a:srgbClr val="E8F8F0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840480"/>
            <a:ext cx="457200" cy="2423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840480"/>
            <a:ext cx="457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397764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spectrogramme Mel, n_fft=2048, hop_length=256, sr=16000, fmax=8000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: les chants de baleines (20 Hz–8 kHz) nécessitent fmax=8000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pertinent car la répartition des fréquences du chant est perceptuellement compressée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hop_length=256 donne ~16 ms de résolution temporelle → suffisant pour les modulations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mémo – Jour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7744" y="6583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à conserver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56248"/>
            <a:ext cx="1179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  •  Traitement du Signal – Jour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539496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22960"/>
            <a:ext cx="53949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22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– Signal Audio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353312"/>
            <a:ext cx="5212080" cy="457200"/>
          </a:xfrm>
          <a:prstGeom prst="rect">
            <a:avLst/>
          </a:prstGeom>
          <a:solidFill>
            <a:srgbClr val="F0F8FC"/>
          </a:solidFill>
          <a:ln w="12700">
            <a:solidFill>
              <a:srgbClr val="E0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3716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= tableau NumPy float32 normalisé [-1, 1]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56232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8745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y, sr = librosa.load(path, sr=22050, mono=True)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5212080" cy="457200"/>
          </a:xfrm>
          <a:prstGeom prst="rect">
            <a:avLst/>
          </a:prstGeom>
          <a:solidFill>
            <a:srgbClr val="F0F8FC"/>
          </a:solidFill>
          <a:ln w="12700">
            <a:solidFill>
              <a:srgbClr val="E0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7744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= len(y) / sr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62072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8036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1/sr  •  N = sr × durée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64992"/>
            <a:ext cx="5212080" cy="457200"/>
          </a:xfrm>
          <a:prstGeom prst="rect">
            <a:avLst/>
          </a:prstGeom>
          <a:solidFill>
            <a:srgbClr val="F0F8FC"/>
          </a:solidFill>
          <a:ln w="12700">
            <a:solidFill>
              <a:srgbClr val="E0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8328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Nyquist = sr / 2  •  Aliasing si fs &lt; 2×fmax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862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= √(mean(y²))  •  dB = 20×log10(A/Aref)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70832"/>
            <a:ext cx="5212080" cy="457200"/>
          </a:xfrm>
          <a:prstGeom prst="rect">
            <a:avLst/>
          </a:prstGeom>
          <a:solidFill>
            <a:srgbClr val="F0F8FC"/>
          </a:solidFill>
          <a:ln w="12700">
            <a:solidFill>
              <a:srgbClr val="E0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3891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waveshow() → forme d'onde temporelle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73752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89204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si |y| &gt; 1.0 → distorsion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822960"/>
            <a:ext cx="576072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822960"/>
            <a:ext cx="5760720" cy="4572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822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– FFT &amp; Spectrogrammes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353312"/>
            <a:ext cx="5577840" cy="374904"/>
          </a:xfrm>
          <a:prstGeom prst="rect">
            <a:avLst/>
          </a:prstGeom>
          <a:solidFill>
            <a:srgbClr val="FFF5E8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371600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→ décompose signal en sinusoïdes (temps→fréq)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1755648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773936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np.abs(np.fft.rfft(y))  — magnitudes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2157984"/>
            <a:ext cx="5577840" cy="374904"/>
          </a:xfrm>
          <a:prstGeom prst="rect">
            <a:avLst/>
          </a:prstGeom>
          <a:solidFill>
            <a:srgbClr val="FFF5E8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176272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freqs = np.fft.rfftfreq(N, 1/sr)  — axe Hz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2560320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2578608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 = sr/N  •  rfft shape = N//2+1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2962656"/>
            <a:ext cx="5577840" cy="374904"/>
          </a:xfrm>
          <a:prstGeom prst="rect">
            <a:avLst/>
          </a:prstGeom>
          <a:solidFill>
            <a:srgbClr val="FFF5E8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980944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= FFT glissante → spectre 2D [freq, temps]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3364992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383280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n_fft↑ → résol. fréq↑, résol. temps↓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72200" y="3767328"/>
            <a:ext cx="5577840" cy="374904"/>
          </a:xfrm>
          <a:prstGeom prst="rect">
            <a:avLst/>
          </a:prstGeom>
          <a:solidFill>
            <a:srgbClr val="FFF5E8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785616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hop_length = n_fft/4 recommandé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72200" y="4169664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4187952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: log-compression perceptuelle → ML audio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572000"/>
            <a:ext cx="5577840" cy="374904"/>
          </a:xfrm>
          <a:prstGeom prst="rect">
            <a:avLst/>
          </a:prstGeom>
          <a:solidFill>
            <a:srgbClr val="FFF5E8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4590288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S_dB = librosa.power_to_db(S, ref=np.max)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72200" y="4974336"/>
            <a:ext cx="5577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4992624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pour ML/CNN  •  STFT pour reconstruction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– Jour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944575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6868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6070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24128"/>
            <a:ext cx="8001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audio = tableau NumPy, caractérisé par sr, amplitude et durée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64208"/>
            <a:ext cx="86868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1907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682496"/>
            <a:ext cx="8001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charge, normalise et fournit les outils d'analyse essentiels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322576"/>
            <a:ext cx="86868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7744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340864"/>
            <a:ext cx="8001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FFT révèle les composantes fréquentielles cachées dans le signal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2980944"/>
            <a:ext cx="86868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3580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2999232"/>
            <a:ext cx="8001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STFT localise les fréquences dans le temps → spectrogramme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7200" y="3639312"/>
            <a:ext cx="86868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94176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3657600"/>
            <a:ext cx="80010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L'échelle Mel mime la perception humaine → incontournable pour le ML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9326880" y="1005840"/>
            <a:ext cx="2651760" cy="4160520"/>
          </a:xfrm>
          <a:prstGeom prst="rect">
            <a:avLst/>
          </a:prstGeom>
          <a:solidFill>
            <a:srgbClr val="122952"/>
          </a:solidFill>
          <a:ln w="12700">
            <a:solidFill>
              <a:srgbClr val="F77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9326880" y="1005840"/>
            <a:ext cx="2651760" cy="6400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9326880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418320" y="1828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Nettoyage du signal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9418320" y="23042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Réduction du bruit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9418320" y="27797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Segmentation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9418320" y="32552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Features audio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9418320" y="37307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MFCC en détail</a:t>
            </a:r>
            <a:endParaRPr lang="en-US" sz="10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30352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05840" y="532180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Bravo pour cette première journée ! Continuez à pratiquer ce soir avec vos propres fichiers audio.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Yakine CHERKAOUI, formateur  •  Mastère Data &amp; IA – Nexa Business School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Traitement du Signal – Jour 1 – Nexa</dc:title>
  <dc:subject>PptxGenJS Presentation</dc:subject>
  <dc:creator>Yakine CHERKAOUI</dc:creator>
  <cp:lastModifiedBy>Yakine CHERKAOUI</cp:lastModifiedBy>
  <cp:revision>1</cp:revision>
  <dcterms:created xsi:type="dcterms:W3CDTF">2026-06-07T09:10:07Z</dcterms:created>
  <dcterms:modified xsi:type="dcterms:W3CDTF">2026-06-07T09:10:07Z</dcterms:modified>
</cp:coreProperties>
</file>